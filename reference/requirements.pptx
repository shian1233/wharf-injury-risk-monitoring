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1" r:id="rId3"/>
    <p:sldId id="282" r:id="rId4"/>
    <p:sldId id="283" r:id="rId5"/>
    <p:sldId id="275" r:id="rId6"/>
    <p:sldId id="274" r:id="rId7"/>
    <p:sldId id="284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5F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9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8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hongshan.gov.cn/xxgk/jbxxgk/shgysy/aqsc/202604/P020260430645666483675.pdf" TargetMode="External"/><Relationship Id="rId8" Type="http://schemas.openxmlformats.org/officeDocument/2006/relationships/hyperlink" Target="https://www.jingyuan.gov.cn/zfxxgk/bmhxzxxgk/bmdw/yjglj/fdzdgknr/aqsc/art/2023/art_2513f7034c61487f86effd5742d6139f.html" TargetMode="External"/><Relationship Id="rId7" Type="http://schemas.openxmlformats.org/officeDocument/2006/relationships/hyperlink" Target="https://www.hhky.gov.cn/virtual_attach_file.vsb?afc=5MmGCZnm-8LRUPLQ4LZLm-8UNWkMlQqfUNUDo7U4U4l4M7U0gihFp2hmCIa0UShfMkyYnSyPLzQRMzUYLzGYUmNPLlWRL4lDMlnfozviM7MFUzv4UzVRU8WFL8-iUz9Jv2ntuDlhgjfNQmOeo4xK_5MYp5XtgDTJQty0gzL0gzLJqdpnx" TargetMode="External"/><Relationship Id="rId6" Type="http://schemas.openxmlformats.org/officeDocument/2006/relationships/hyperlink" Target="https://www.cqspb.gov.cn/zj/cqkjd_64377/zwgk_64381/fdzdgknr_64383/lzyj0909/zcwj0909/202601/t20260126_15353356.html" TargetMode="External"/><Relationship Id="rId5" Type="http://schemas.openxmlformats.org/officeDocument/2006/relationships/hyperlink" Target="https://www.xjqmx.gov.cn/xjqmx/c115003/202607/819a84acbe674b4aa5e262ce80148caf.shtml" TargetMode="External"/><Relationship Id="rId4" Type="http://schemas.openxmlformats.org/officeDocument/2006/relationships/hyperlink" Target="https://www.tianshui.gov.cn/info/3531/1208922.htm" TargetMode="External"/><Relationship Id="rId3" Type="http://schemas.openxmlformats.org/officeDocument/2006/relationships/hyperlink" Target="https://yjgl.xinjiang.gov.cn/xjyjgl/c113120/202604/f06788fd7da340c0a73b2fe86d416e23.shtml" TargetMode="External"/><Relationship Id="rId2" Type="http://schemas.openxmlformats.org/officeDocument/2006/relationships/tags" Target="../tags/tag90.xml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94.xml"/><Relationship Id="rId15" Type="http://schemas.openxmlformats.org/officeDocument/2006/relationships/image" Target="../media/image4.wmf"/><Relationship Id="rId14" Type="http://schemas.openxmlformats.org/officeDocument/2006/relationships/oleObject" Target="../embeddings/oleObject2.bin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hyperlink" Target="https://www.hongshan.gov.cn/xxgk/jbxxgk/shgysy/aqsc/202401/P020251214552424915944.pdf" TargetMode="Externa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0" y="2311400"/>
            <a:ext cx="12191365" cy="17900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4800"/>
              <a:t>技术</a:t>
            </a:r>
            <a:r>
              <a:rPr lang="zh-CN" altLang="en-US" sz="4800"/>
              <a:t>路线对接</a:t>
            </a:r>
            <a:endParaRPr lang="zh-CN" altLang="en-US" sz="4800"/>
          </a:p>
        </p:txBody>
      </p:sp>
      <p:sp>
        <p:nvSpPr>
          <p:cNvPr id="7" name="文本框 6"/>
          <p:cNvSpPr txBox="1"/>
          <p:nvPr/>
        </p:nvSpPr>
        <p:spPr>
          <a:xfrm>
            <a:off x="0" y="0"/>
            <a:ext cx="1351280" cy="3683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zh-CN" altLang="en-US">
                <a:sym typeface="+mn-ea"/>
              </a:rPr>
              <a:t>第四次研讨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64000" y="487045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/>
              <a:t>2026</a:t>
            </a:r>
            <a:r>
              <a:rPr lang="zh-CN" altLang="en-US" sz="2400"/>
              <a:t>年</a:t>
            </a:r>
            <a:r>
              <a:rPr lang="en-US" altLang="zh-CN" sz="2400"/>
              <a:t>10</a:t>
            </a:r>
            <a:r>
              <a:rPr lang="zh-CN" altLang="en-US" sz="2400"/>
              <a:t>月</a:t>
            </a:r>
            <a:r>
              <a:rPr lang="en-US" altLang="zh-CN" sz="2400"/>
              <a:t>09</a:t>
            </a:r>
            <a:r>
              <a:rPr lang="zh-CN" altLang="en-US" sz="2400"/>
              <a:t>日</a:t>
            </a:r>
            <a:endParaRPr lang="zh-CN" altLang="en-US" sz="24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681470" y="1483995"/>
            <a:ext cx="5081270" cy="19450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项目定位：</a:t>
            </a:r>
            <a:endParaRPr lang="zh-CN" altLang="en-US" sz="160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>
                <a:solidFill>
                  <a:srgbClr val="FF0000"/>
                </a:solidFill>
              </a:rPr>
              <a:t>以事故报告为基础数据，以“</a:t>
            </a:r>
            <a:r>
              <a:rPr lang="zh-CN" altLang="en-US" sz="1600">
                <a:solidFill>
                  <a:srgbClr val="FF0000"/>
                </a:solidFill>
                <a:sym typeface="+mn-ea"/>
              </a:rPr>
              <a:t>某一行业</a:t>
            </a:r>
            <a:r>
              <a:rPr lang="en-US" altLang="zh-CN" sz="1600">
                <a:solidFill>
                  <a:srgbClr val="FF0000"/>
                </a:solidFill>
                <a:sym typeface="+mn-ea"/>
              </a:rPr>
              <a:t>+</a:t>
            </a:r>
            <a:r>
              <a:rPr lang="zh-CN" altLang="en-US" sz="1600">
                <a:solidFill>
                  <a:srgbClr val="FF0000"/>
                </a:solidFill>
              </a:rPr>
              <a:t>某一时间范围 +某一地区”的</a:t>
            </a:r>
            <a:r>
              <a:rPr lang="zh-CN" altLang="en-US" sz="1600">
                <a:solidFill>
                  <a:srgbClr val="FF0000"/>
                </a:solidFill>
              </a:rPr>
              <a:t>事故为分析对象，完成【现状安全生产总体形势分析】和【未来安全生产风险预测】两项</a:t>
            </a:r>
            <a:r>
              <a:rPr lang="zh-CN" altLang="en-US" sz="1600">
                <a:solidFill>
                  <a:srgbClr val="FF0000"/>
                </a:solidFill>
              </a:rPr>
              <a:t>核心内容，输出报告。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000" y="858520"/>
            <a:ext cx="5080000" cy="556323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p>
            <a:pPr>
              <a:lnSpc>
                <a:spcPct val="120000"/>
              </a:lnSpc>
              <a:spcAft>
                <a:spcPct val="60000"/>
              </a:spcAft>
            </a:pPr>
            <a:r>
              <a:rPr lang="zh-CN" altLang="en-US" sz="1200" b="1">
                <a:solidFill>
                  <a:srgbClr val="FF0000"/>
                </a:solidFill>
              </a:rPr>
              <a:t>技术要求：</a:t>
            </a:r>
            <a:endParaRPr lang="en-US" altLang="zh-CN" sz="1200" b="1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  <a:spcAft>
                <a:spcPct val="60000"/>
              </a:spcAft>
            </a:pPr>
            <a:r>
              <a:rPr lang="en-US" altLang="zh-CN" sz="1200" b="1"/>
              <a:t>2.6.2 </a:t>
            </a:r>
            <a:r>
              <a:rPr lang="zh-CN" altLang="en-US" sz="1200" b="1"/>
              <a:t>安全生产事故风险研判及预测</a:t>
            </a:r>
            <a:endParaRPr lang="zh-CN" altLang="en-US" sz="1200" b="1"/>
          </a:p>
          <a:p>
            <a:pPr>
              <a:lnSpc>
                <a:spcPct val="120000"/>
              </a:lnSpc>
              <a:spcAft>
                <a:spcPct val="60000"/>
              </a:spcAft>
            </a:pPr>
            <a:r>
              <a:rPr lang="en-US" altLang="zh-CN" sz="1200" b="1"/>
              <a:t>2.6.2.1 </a:t>
            </a:r>
            <a:r>
              <a:rPr lang="zh-CN" altLang="en-US" sz="1200" b="1"/>
              <a:t>功能要求</a:t>
            </a:r>
            <a:endParaRPr lang="zh-CN" altLang="en-US" sz="1200" b="1"/>
          </a:p>
          <a:p>
            <a:pPr>
              <a:lnSpc>
                <a:spcPct val="120000"/>
              </a:lnSpc>
            </a:pPr>
            <a:r>
              <a:rPr lang="zh-CN" altLang="en-US" sz="1200"/>
              <a:t>针对安全生产重点行业领域（煤矿、金属非金属矿山、石油天然气开采、化工、烟花爆竹、工贸等不少于</a:t>
            </a:r>
            <a:r>
              <a:rPr lang="en-US" altLang="zh-CN" sz="1200"/>
              <a:t>6</a:t>
            </a:r>
            <a:r>
              <a:rPr lang="zh-CN" altLang="en-US" sz="1200"/>
              <a:t>个行业）存在安全生产风险和事故隐患，进行安全生产事故风险研判及预测。</a:t>
            </a:r>
            <a:endParaRPr lang="zh-CN" altLang="en-US" sz="1200"/>
          </a:p>
          <a:p>
            <a:pPr>
              <a:lnSpc>
                <a:spcPct val="120000"/>
              </a:lnSpc>
              <a:spcAft>
                <a:spcPct val="60000"/>
              </a:spcAft>
            </a:pPr>
            <a:r>
              <a:rPr lang="en-US" altLang="zh-CN" sz="1200" b="1"/>
              <a:t>2.6.2.2 </a:t>
            </a:r>
            <a:r>
              <a:rPr lang="zh-CN" altLang="en-US" sz="1200" b="1"/>
              <a:t>技术规格</a:t>
            </a:r>
            <a:endParaRPr lang="zh-CN" altLang="en-US" sz="1200" b="1"/>
          </a:p>
          <a:p>
            <a:pPr>
              <a:lnSpc>
                <a:spcPct val="120000"/>
              </a:lnSpc>
            </a:pPr>
            <a:r>
              <a:rPr lang="zh-CN" altLang="en-US" sz="1200"/>
              <a:t>通过构建事故关联网络、事故演变系统动力学模型，运用人工智能深度学习方法，依据安全生产重点行业领域历史事故数据和案例，结合经济社会发展大数据进行推理，得出事故风险孕育、发展、演变及演化动力学特征，说明事故成因深层次机理，形成全国安全生产统计分析数据库，得出安全生产辅助分析研判结果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（</a:t>
            </a:r>
            <a:r>
              <a:rPr lang="en-US" altLang="zh-CN" sz="1200"/>
              <a:t>1</a:t>
            </a:r>
            <a:r>
              <a:rPr lang="zh-CN" altLang="en-US" sz="1200"/>
              <a:t>）数据搜集：汇集安全生产历史事故信息、调查报告、企业数据及经济社会气候等数据，数据＞</a:t>
            </a:r>
            <a:r>
              <a:rPr lang="en-US" altLang="zh-CN" sz="1200"/>
              <a:t>3TB</a:t>
            </a:r>
            <a:r>
              <a:rPr lang="zh-CN" altLang="en-US" sz="1200"/>
              <a:t>，数据条目＞</a:t>
            </a:r>
            <a:r>
              <a:rPr lang="en-US" altLang="zh-CN" sz="1200"/>
              <a:t>20</a:t>
            </a:r>
            <a:r>
              <a:rPr lang="zh-CN" altLang="en-US" sz="1200"/>
              <a:t>万条。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（</a:t>
            </a:r>
            <a:r>
              <a:rPr lang="en-US" altLang="zh-CN" sz="1200"/>
              <a:t>2</a:t>
            </a:r>
            <a:r>
              <a:rPr lang="zh-CN" altLang="en-US" sz="1200"/>
              <a:t>）报告输出：形成安全生产事故风险研判及预测分析报告，包含＞</a:t>
            </a:r>
            <a:r>
              <a:rPr lang="en-US" altLang="zh-CN" sz="1200"/>
              <a:t>5</a:t>
            </a:r>
            <a:r>
              <a:rPr lang="zh-CN" altLang="en-US" sz="1200"/>
              <a:t>项定量指标，每项定量指标可选取内容＞</a:t>
            </a:r>
            <a:r>
              <a:rPr lang="en-US" altLang="zh-CN" sz="1200"/>
              <a:t>10</a:t>
            </a:r>
            <a:r>
              <a:rPr lang="zh-CN" altLang="en-US" sz="1200"/>
              <a:t>个，确保＞</a:t>
            </a:r>
            <a:r>
              <a:rPr lang="en-US" altLang="zh-CN" sz="1200"/>
              <a:t>95%</a:t>
            </a:r>
            <a:r>
              <a:rPr lang="zh-CN" altLang="en-US" sz="1200"/>
              <a:t>的事故可按照定量指标进行统计。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（</a:t>
            </a:r>
            <a:r>
              <a:rPr lang="en-US" altLang="zh-CN" sz="1200"/>
              <a:t>3</a:t>
            </a:r>
            <a:r>
              <a:rPr lang="zh-CN" altLang="en-US" sz="1200"/>
              <a:t>）报告准确性：预测报告预测准确率在</a:t>
            </a:r>
            <a:r>
              <a:rPr lang="en-US" altLang="zh-CN" sz="1200"/>
              <a:t>90%</a:t>
            </a:r>
            <a:r>
              <a:rPr lang="zh-CN" altLang="en-US" sz="1200"/>
              <a:t>置信度下实现准确有效，系统给出的建议与专家推荐建议一致性＞</a:t>
            </a:r>
            <a:r>
              <a:rPr lang="en-US" altLang="zh-CN" sz="1200"/>
              <a:t>70%</a:t>
            </a:r>
            <a:r>
              <a:rPr lang="zh-CN" altLang="en-US" sz="1200"/>
              <a:t>。</a:t>
            </a:r>
            <a:endParaRPr lang="zh-CN" altLang="en-US" sz="1200"/>
          </a:p>
          <a:p>
            <a:pPr>
              <a:lnSpc>
                <a:spcPct val="120000"/>
              </a:lnSpc>
            </a:pPr>
            <a:r>
              <a:rPr lang="zh-CN" altLang="en-US" sz="1200"/>
              <a:t>（</a:t>
            </a:r>
            <a:r>
              <a:rPr lang="en-US" altLang="zh-CN" sz="1200"/>
              <a:t>4</a:t>
            </a:r>
            <a:r>
              <a:rPr lang="zh-CN" altLang="en-US" sz="1200"/>
              <a:t>）报告标准：涉及事故原因、重点突出问题、事故发生机理的报告内容达到与专家建议报告一致性＞</a:t>
            </a:r>
            <a:r>
              <a:rPr lang="en-US" altLang="zh-CN" sz="1200"/>
              <a:t>80%</a:t>
            </a:r>
            <a:r>
              <a:rPr lang="zh-CN" altLang="en-US" sz="1200"/>
              <a:t>，系统结论可在现实</a:t>
            </a:r>
            <a:r>
              <a:rPr lang="en-US" altLang="zh-CN" sz="1200"/>
              <a:t>xx</a:t>
            </a:r>
            <a:r>
              <a:rPr lang="zh-CN" altLang="en-US" sz="1200"/>
              <a:t>验证，报告篇幅不少于</a:t>
            </a:r>
            <a:r>
              <a:rPr lang="en-US" altLang="zh-CN" sz="1200"/>
              <a:t>3000</a:t>
            </a:r>
            <a:r>
              <a:rPr lang="zh-CN" altLang="en-US" sz="1200"/>
              <a:t>字。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1598295" cy="4603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zh-CN" altLang="en-US" sz="2400" b="1" i="1">
                <a:solidFill>
                  <a:srgbClr val="002060"/>
                </a:solidFill>
              </a:rPr>
              <a:t>总体思路</a:t>
            </a:r>
            <a:endParaRPr lang="zh-CN" altLang="en-US" sz="2400" b="1" i="1">
              <a:solidFill>
                <a:srgbClr val="00206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81470" y="3785870"/>
            <a:ext cx="5080635" cy="1986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600"/>
              <a:t>主要工作：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600"/>
              <a:t>安全</a:t>
            </a:r>
            <a:r>
              <a:rPr lang="zh-CN" altLang="en-US" sz="1600"/>
              <a:t>生产数据采集与处理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en-US" altLang="zh-CN" sz="1600"/>
              <a:t>6</a:t>
            </a:r>
            <a:r>
              <a:rPr lang="zh-CN" altLang="en-US" sz="1600"/>
              <a:t>行业</a:t>
            </a:r>
            <a:r>
              <a:rPr lang="en-US" altLang="zh-CN" sz="1600"/>
              <a:t>SD</a:t>
            </a:r>
            <a:r>
              <a:rPr lang="zh-CN" altLang="en-US" sz="1600"/>
              <a:t>模型构建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600"/>
              <a:t>风险研判智能体开发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1600"/>
              <a:t>风险研判及预测报告模板构建（含定量指标）</a:t>
            </a:r>
            <a:endParaRPr lang="zh-CN" altLang="en-US" sz="1600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endParaRPr lang="zh-CN" altLang="en-US" sz="1600"/>
          </a:p>
          <a:p>
            <a:endParaRPr lang="zh-CN" altLang="en-US" sz="1600"/>
          </a:p>
        </p:txBody>
      </p:sp>
      <p:sp>
        <p:nvSpPr>
          <p:cNvPr id="8" name="右箭头 7"/>
          <p:cNvSpPr/>
          <p:nvPr/>
        </p:nvSpPr>
        <p:spPr>
          <a:xfrm rot="19800000">
            <a:off x="5807075" y="3050540"/>
            <a:ext cx="504825" cy="5048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 rot="1620000">
            <a:off x="5812155" y="3958590"/>
            <a:ext cx="504825" cy="5048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3598545" cy="4603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ctr"/>
            <a:r>
              <a:rPr lang="zh-CN" altLang="en-US" sz="2400" b="1" i="1">
                <a:solidFill>
                  <a:srgbClr val="002060"/>
                </a:solidFill>
              </a:rPr>
              <a:t>安全生产数据采集与</a:t>
            </a:r>
            <a:r>
              <a:rPr lang="zh-CN" altLang="en-US" sz="2400" b="1" i="1">
                <a:solidFill>
                  <a:srgbClr val="002060"/>
                </a:solidFill>
              </a:rPr>
              <a:t>处理</a:t>
            </a:r>
            <a:endParaRPr lang="zh-CN" altLang="en-US" sz="2400" b="1" i="1">
              <a:solidFill>
                <a:srgbClr val="00206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8300" y="580390"/>
            <a:ext cx="1145540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拟构建四个数据集：</a:t>
            </a:r>
            <a:r>
              <a:rPr lang="zh-CN" altLang="en-US">
                <a:solidFill>
                  <a:srgbClr val="FF0000"/>
                </a:solidFill>
              </a:rPr>
              <a:t>安全生产事故报告结构化数据集、企业数据集、经济社会数据集、气候环境数据集</a:t>
            </a:r>
            <a:r>
              <a:rPr lang="zh-CN" altLang="en-US"/>
              <a:t>。支持后续现状安全生产形势分析和</a:t>
            </a:r>
            <a:r>
              <a:rPr lang="en-US" altLang="zh-CN"/>
              <a:t>SD</a:t>
            </a:r>
            <a:r>
              <a:rPr lang="zh-CN" altLang="en-US"/>
              <a:t>模型构建。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8300" y="1513840"/>
            <a:ext cx="2341245" cy="3778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r>
              <a:rPr lang="zh-CN" altLang="en-US"/>
              <a:t>数据来源：网络</a:t>
            </a:r>
            <a:r>
              <a:rPr lang="zh-CN" altLang="en-US"/>
              <a:t>爬虫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8300" y="2243455"/>
            <a:ext cx="436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安全生产事故报告结构化数据集</a:t>
            </a:r>
            <a:r>
              <a:rPr lang="zh-CN" altLang="en-US"/>
              <a:t>主要</a:t>
            </a:r>
            <a:r>
              <a:rPr lang="zh-CN" altLang="en-US"/>
              <a:t>字段：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07175" y="2110105"/>
            <a:ext cx="436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企业数据集</a:t>
            </a:r>
            <a:r>
              <a:rPr lang="zh-CN" altLang="en-US"/>
              <a:t>主要</a:t>
            </a:r>
            <a:r>
              <a:rPr lang="zh-CN" altLang="en-US"/>
              <a:t>字段：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92125" y="4157980"/>
            <a:ext cx="436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经济社会数据集</a:t>
            </a:r>
            <a:r>
              <a:rPr lang="zh-CN" altLang="en-US"/>
              <a:t>主要</a:t>
            </a:r>
            <a:r>
              <a:rPr lang="zh-CN" altLang="en-US"/>
              <a:t>字段：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607175" y="4157980"/>
            <a:ext cx="4368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sym typeface="+mn-ea"/>
              </a:rPr>
              <a:t>气候环境数据集</a:t>
            </a:r>
            <a:r>
              <a:rPr lang="zh-CN" altLang="en-US"/>
              <a:t>主要</a:t>
            </a:r>
            <a:r>
              <a:rPr lang="zh-CN" altLang="en-US"/>
              <a:t>字段：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00" y="6250305"/>
            <a:ext cx="6096000" cy="6076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1400">
                <a:sym typeface="+mn-ea"/>
              </a:rPr>
              <a:t>响应指标：（</a:t>
            </a:r>
            <a:r>
              <a:rPr lang="en-US" altLang="zh-CN" sz="1400">
                <a:sym typeface="+mn-ea"/>
              </a:rPr>
              <a:t>1</a:t>
            </a:r>
            <a:r>
              <a:rPr lang="zh-CN" altLang="en-US" sz="1400">
                <a:sym typeface="+mn-ea"/>
              </a:rPr>
              <a:t>）数据搜集：汇集安全生产历史事故信息、调查报告、企业数据及经济社会气候等数据，数据＞</a:t>
            </a:r>
            <a:r>
              <a:rPr lang="en-US" altLang="zh-CN" sz="1400">
                <a:sym typeface="+mn-ea"/>
              </a:rPr>
              <a:t>3TB</a:t>
            </a:r>
            <a:r>
              <a:rPr lang="zh-CN" altLang="en-US" sz="1400">
                <a:sym typeface="+mn-ea"/>
              </a:rPr>
              <a:t>，数据条目＞</a:t>
            </a:r>
            <a:r>
              <a:rPr lang="en-US" altLang="zh-CN" sz="1400">
                <a:sym typeface="+mn-ea"/>
              </a:rPr>
              <a:t>20</a:t>
            </a:r>
            <a:r>
              <a:rPr lang="zh-CN" altLang="en-US" sz="1400">
                <a:sym typeface="+mn-ea"/>
              </a:rPr>
              <a:t>万条。</a:t>
            </a:r>
            <a:endParaRPr lang="zh-CN" altLang="en-US" sz="1400"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2125" y="2691765"/>
            <a:ext cx="424497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事故时间、事故地点、行业类别、事故单位、作业场所、事故经过、人员伤亡、经济损失、事故原因、整改措施等。</a:t>
            </a:r>
            <a:endParaRPr lang="zh-CN" altLang="en-US" sz="1600"/>
          </a:p>
        </p:txBody>
      </p:sp>
      <p:sp>
        <p:nvSpPr>
          <p:cNvPr id="16" name="文本框 15"/>
          <p:cNvSpPr txBox="1"/>
          <p:nvPr/>
        </p:nvSpPr>
        <p:spPr>
          <a:xfrm>
            <a:off x="6607175" y="251872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企业名称、统一社会信用代码、行业类别、企业规模、生产场所、许可资质、重大危险源、从业人数、隐患排查、监测报警等。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492125" y="4737100"/>
            <a:ext cx="424497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/>
              <a:t>行政区域、统计周期、地区生产总值、工业增加值、固定资产投资、工业用电量、六行业企业数量、六行业从业人数、人口密度、应急监管能力等。</a:t>
            </a:r>
            <a:endParaRPr lang="zh-CN" altLang="en-US" sz="1600"/>
          </a:p>
        </p:txBody>
      </p:sp>
      <p:sp>
        <p:nvSpPr>
          <p:cNvPr id="18" name="文本框 17"/>
          <p:cNvSpPr txBox="1"/>
          <p:nvPr/>
        </p:nvSpPr>
        <p:spPr>
          <a:xfrm>
            <a:off x="6607175" y="457993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统计时间、空间位置、温度、湿度、降雨量、风速风向、雷电、台风、水位及洪涝、地质灾害预警等。</a:t>
            </a:r>
            <a:endParaRPr lang="zh-CN" altLang="en-US" sz="1600"/>
          </a:p>
        </p:txBody>
      </p:sp>
      <p:sp>
        <p:nvSpPr>
          <p:cNvPr id="19" name="文本框 18"/>
          <p:cNvSpPr txBox="1"/>
          <p:nvPr/>
        </p:nvSpPr>
        <p:spPr>
          <a:xfrm>
            <a:off x="6607175" y="5388610"/>
            <a:ext cx="4597400" cy="812800"/>
          </a:xfrm>
          <a:prstGeom prst="rect">
            <a:avLst/>
          </a:prstGeom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zh-CN" altLang="en-US" sz="1600" i="1">
                <a:solidFill>
                  <a:schemeClr val="accent1"/>
                </a:solidFill>
                <a:sym typeface="+mn-ea"/>
              </a:rPr>
              <a:t>中国气象数据网：</a:t>
            </a:r>
            <a:r>
              <a:rPr lang="zh-CN" altLang="en-US" sz="1600" i="1">
                <a:solidFill>
                  <a:schemeClr val="accent1"/>
                </a:solidFill>
                <a:sym typeface="+mn-ea"/>
              </a:rPr>
              <a:t>https://m.data.cma.cn/data/cdcindex/cid/6d1b5efbdcbf9a58.html</a:t>
            </a:r>
            <a:endParaRPr lang="zh-CN" altLang="en-US" sz="1600" i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07175" y="34267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 i="1">
                <a:solidFill>
                  <a:schemeClr val="accent1"/>
                </a:solidFill>
              </a:rPr>
              <a:t>国家企业信用信息公示系统</a:t>
            </a:r>
            <a:r>
              <a:rPr lang="en-US" altLang="zh-CN" sz="1600" i="1">
                <a:solidFill>
                  <a:schemeClr val="accent1"/>
                </a:solidFill>
              </a:rPr>
              <a:t>https://bt.gsxt.gov.cn/</a:t>
            </a:r>
            <a:endParaRPr lang="en-US" altLang="zh-CN" sz="1600" i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7535" y="6174740"/>
            <a:ext cx="406400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600" i="1">
                <a:solidFill>
                  <a:schemeClr val="accent1"/>
                </a:solidFill>
                <a:sym typeface="+mn-ea"/>
              </a:rPr>
              <a:t>中国统计年鉴、中国社会统计年鉴</a:t>
            </a:r>
            <a:endParaRPr lang="zh-CN" altLang="en-US" sz="1600" i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2125" y="3594735"/>
            <a:ext cx="406400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600" i="1">
                <a:solidFill>
                  <a:schemeClr val="accent1"/>
                </a:solidFill>
                <a:sym typeface="+mn-ea"/>
              </a:rPr>
              <a:t>应急管理部、各政府部门</a:t>
            </a:r>
            <a:r>
              <a:rPr lang="zh-CN" altLang="en-US" sz="1600" i="1">
                <a:solidFill>
                  <a:schemeClr val="accent1"/>
                </a:solidFill>
                <a:sym typeface="+mn-ea"/>
              </a:rPr>
              <a:t>发布</a:t>
            </a:r>
            <a:endParaRPr lang="zh-CN" altLang="en-US" sz="1600" i="1">
              <a:solidFill>
                <a:schemeClr val="accent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 txBox="1"/>
          <p:nvPr/>
        </p:nvSpPr>
        <p:spPr>
          <a:xfrm>
            <a:off x="0" y="0"/>
            <a:ext cx="1355725" cy="45275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SD</a:t>
            </a: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模型</a:t>
            </a:r>
            <a:endParaRPr lang="zh-CN" altLang="en-US" sz="2400" b="1" i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8300" y="580390"/>
            <a:ext cx="1145540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拟构建</a:t>
            </a:r>
            <a:r>
              <a:rPr lang="en-US" altLang="zh-CN"/>
              <a:t>6</a:t>
            </a:r>
            <a:r>
              <a:rPr lang="zh-CN" altLang="en-US"/>
              <a:t>个行业的</a:t>
            </a:r>
            <a:r>
              <a:rPr lang="en-US" altLang="zh-CN"/>
              <a:t>SD</a:t>
            </a:r>
            <a:r>
              <a:rPr lang="zh-CN" altLang="en-US"/>
              <a:t>模型：从事故调查报告中提取影响行业总体安全风险的关键因素，利用</a:t>
            </a:r>
            <a:r>
              <a:rPr lang="en-US" altLang="zh-CN"/>
              <a:t>Vensim</a:t>
            </a:r>
            <a:r>
              <a:rPr lang="zh-CN" altLang="en-US"/>
              <a:t>构建系统动力学仿真模型，支持某因素变化后的总体安全风险</a:t>
            </a:r>
            <a:r>
              <a:rPr lang="zh-CN" altLang="en-US"/>
              <a:t>变化。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810125" y="3324225"/>
          <a:ext cx="1942465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971550" imgH="666750" progId="Package">
                  <p:embed/>
                </p:oleObj>
              </mc:Choice>
              <mc:Fallback>
                <p:oleObj name="" showAsIcon="1" r:id="rId1" imgW="971550" imgH="66675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10125" y="3324225"/>
                        <a:ext cx="1942465" cy="133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599940" y="2691130"/>
            <a:ext cx="2362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初步模型：双击</a:t>
            </a:r>
            <a:r>
              <a:rPr lang="zh-CN" altLang="en-US"/>
              <a:t>打开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40175" y="53447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需要进一步简化因素，完善模型，适配风险仿真预测和报告内容</a:t>
            </a:r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542540" y="2409190"/>
            <a:ext cx="77533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地区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04620" y="2409190"/>
            <a:ext cx="77533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ym typeface="+mn-ea"/>
              </a:rPr>
              <a:t>时间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下箭头 15"/>
          <p:cNvSpPr/>
          <p:nvPr>
            <p:custDataLst>
              <p:tags r:id="rId3"/>
            </p:custDataLst>
          </p:nvPr>
        </p:nvSpPr>
        <p:spPr>
          <a:xfrm rot="16200000">
            <a:off x="2227580" y="240919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0" y="0"/>
            <a:ext cx="4318000" cy="4603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风险研判</a:t>
            </a: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智能体报告生成</a:t>
            </a: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流程</a:t>
            </a:r>
            <a:endParaRPr lang="zh-CN" altLang="en-US" sz="2400" b="1" i="1">
              <a:solidFill>
                <a:srgbClr val="002060"/>
              </a:solidFill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582410" y="2933065"/>
            <a:ext cx="1350645" cy="789305"/>
            <a:chOff x="10996" y="4402"/>
            <a:chExt cx="2127" cy="1243"/>
          </a:xfrm>
        </p:grpSpPr>
        <p:sp>
          <p:nvSpPr>
            <p:cNvPr id="22" name="矩形 21"/>
            <p:cNvSpPr/>
            <p:nvPr/>
          </p:nvSpPr>
          <p:spPr>
            <a:xfrm>
              <a:off x="10996" y="4402"/>
              <a:ext cx="2106" cy="12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pic>
          <p:nvPicPr>
            <p:cNvPr id="23" name="图片 22" descr="机器人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11092"/>
            <a:stretch>
              <a:fillRect/>
            </a:stretch>
          </p:blipFill>
          <p:spPr>
            <a:xfrm>
              <a:off x="11439" y="4402"/>
              <a:ext cx="1218" cy="1058"/>
            </a:xfrm>
            <a:prstGeom prst="rect">
              <a:avLst/>
            </a:prstGeom>
          </p:spPr>
        </p:pic>
        <p:sp>
          <p:nvSpPr>
            <p:cNvPr id="24" name="文本框 23"/>
            <p:cNvSpPr txBox="1"/>
            <p:nvPr/>
          </p:nvSpPr>
          <p:spPr>
            <a:xfrm>
              <a:off x="10996" y="5306"/>
              <a:ext cx="2127" cy="339"/>
            </a:xfrm>
            <a:prstGeom prst="rect">
              <a:avLst/>
            </a:prstGeom>
            <a:noFill/>
          </p:spPr>
          <p:txBody>
            <a:bodyPr wrap="square" lIns="36195" tIns="0" rIns="36195" bIns="0" rtlCol="0">
              <a:spAutoFit/>
            </a:bodyPr>
            <a:p>
              <a:pPr algn="ctr"/>
              <a:r>
                <a:rPr lang="zh-CN" altLang="en-US" sz="1400"/>
                <a:t>风险研判智能体</a:t>
              </a:r>
              <a:endParaRPr lang="zh-CN" altLang="en-US" sz="1400"/>
            </a:p>
          </p:txBody>
        </p:sp>
      </p:grp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82550" y="1138555"/>
            <a:ext cx="4739005" cy="379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输入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266700" y="2409190"/>
            <a:ext cx="77533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行业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下箭头 28"/>
          <p:cNvSpPr/>
          <p:nvPr>
            <p:custDataLst>
              <p:tags r:id="rId9"/>
            </p:custDataLst>
          </p:nvPr>
        </p:nvSpPr>
        <p:spPr>
          <a:xfrm rot="16200000">
            <a:off x="1065530" y="240919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550" y="1856740"/>
            <a:ext cx="4083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i="1">
                <a:solidFill>
                  <a:srgbClr val="FF0000"/>
                </a:solidFill>
              </a:rPr>
              <a:t>第一类参数</a:t>
            </a:r>
            <a:r>
              <a:rPr lang="zh-CN" altLang="en-US" i="1">
                <a:solidFill>
                  <a:srgbClr val="FF0000"/>
                </a:solidFill>
              </a:rPr>
              <a:t>设置：风险研判参数</a:t>
            </a:r>
            <a:endParaRPr lang="zh-CN" altLang="en-US" i="1">
              <a:solidFill>
                <a:srgbClr val="FF0000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550" y="3888740"/>
            <a:ext cx="3542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i="1">
                <a:solidFill>
                  <a:srgbClr val="FF0000"/>
                </a:solidFill>
              </a:rPr>
              <a:t>第二类参数</a:t>
            </a:r>
            <a:r>
              <a:rPr lang="zh-CN" altLang="en-US" i="1">
                <a:solidFill>
                  <a:srgbClr val="FF0000"/>
                </a:solidFill>
              </a:rPr>
              <a:t>设置：风险预测参数</a:t>
            </a:r>
            <a:endParaRPr lang="zh-CN" altLang="en-US" i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748655" y="1138555"/>
            <a:ext cx="2910205" cy="379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处理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9668510" y="1138555"/>
            <a:ext cx="2431415" cy="3790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输出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66700" y="4445635"/>
            <a:ext cx="1217930" cy="335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仿真</a:t>
            </a:r>
            <a:r>
              <a:rPr lang="zh-CN" altLang="en-US">
                <a:sym typeface="+mn-ea"/>
              </a:rPr>
              <a:t>周期</a:t>
            </a:r>
            <a:endParaRPr lang="zh-CN" altLang="en-US"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799590" y="4466590"/>
            <a:ext cx="1217930" cy="335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zh-CN" altLang="en-US">
                <a:sym typeface="+mn-ea"/>
              </a:rPr>
              <a:t>仿真</a:t>
            </a:r>
            <a:r>
              <a:rPr lang="zh-CN" altLang="en-US">
                <a:sym typeface="+mn-ea"/>
              </a:rPr>
              <a:t>场景</a:t>
            </a:r>
            <a:endParaRPr lang="zh-CN" altLang="en-US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2550" y="2959735"/>
            <a:ext cx="47390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例：煤矿行业，</a:t>
            </a:r>
            <a:r>
              <a:rPr lang="en-US" altLang="zh-CN"/>
              <a:t>2025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月到</a:t>
            </a:r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月，</a:t>
            </a:r>
            <a:r>
              <a:rPr lang="zh-CN" altLang="en-US"/>
              <a:t>江苏省</a:t>
            </a:r>
            <a:endParaRPr lang="zh-CN" altLang="en-US"/>
          </a:p>
        </p:txBody>
      </p:sp>
      <p:sp>
        <p:nvSpPr>
          <p:cNvPr id="35" name="下箭头 34"/>
          <p:cNvSpPr/>
          <p:nvPr>
            <p:custDataLst>
              <p:tags r:id="rId12"/>
            </p:custDataLst>
          </p:nvPr>
        </p:nvSpPr>
        <p:spPr>
          <a:xfrm rot="16200000">
            <a:off x="1484630" y="446659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5735" y="5120640"/>
            <a:ext cx="4655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例：未来</a:t>
            </a:r>
            <a:r>
              <a:rPr lang="en-US" altLang="zh-CN"/>
              <a:t>3</a:t>
            </a:r>
            <a:r>
              <a:rPr lang="zh-CN" altLang="en-US"/>
              <a:t>个月，安全生产压力增大场景</a:t>
            </a:r>
            <a:r>
              <a:rPr lang="zh-CN" altLang="en-US"/>
              <a:t>下</a:t>
            </a:r>
            <a:endParaRPr lang="zh-CN" altLang="en-US"/>
          </a:p>
        </p:txBody>
      </p:sp>
      <p:sp>
        <p:nvSpPr>
          <p:cNvPr id="43" name="下箭头 42"/>
          <p:cNvSpPr/>
          <p:nvPr>
            <p:custDataLst>
              <p:tags r:id="rId13"/>
            </p:custDataLst>
          </p:nvPr>
        </p:nvSpPr>
        <p:spPr>
          <a:xfrm rot="16200000">
            <a:off x="5048250" y="120269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下箭头 43"/>
          <p:cNvSpPr/>
          <p:nvPr>
            <p:custDataLst>
              <p:tags r:id="rId14"/>
            </p:custDataLst>
          </p:nvPr>
        </p:nvSpPr>
        <p:spPr>
          <a:xfrm rot="16200000">
            <a:off x="9023985" y="120269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6228080" y="2040890"/>
            <a:ext cx="20593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输入参数</a:t>
            </a:r>
            <a:r>
              <a:rPr lang="zh-CN" altLang="en-US">
                <a:solidFill>
                  <a:schemeClr val="tx1"/>
                </a:solidFill>
              </a:rPr>
              <a:t>传入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16"/>
            </p:custDataLst>
          </p:nvPr>
        </p:nvSpPr>
        <p:spPr>
          <a:xfrm>
            <a:off x="5478145" y="4542790"/>
            <a:ext cx="1104265" cy="671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安全生产数据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17"/>
            </p:custDataLst>
          </p:nvPr>
        </p:nvSpPr>
        <p:spPr>
          <a:xfrm>
            <a:off x="6705600" y="4542790"/>
            <a:ext cx="1104265" cy="671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对应行业</a:t>
            </a:r>
            <a:r>
              <a:rPr lang="en-US" altLang="zh-CN">
                <a:solidFill>
                  <a:schemeClr val="tx1"/>
                </a:solidFill>
              </a:rPr>
              <a:t>SD</a:t>
            </a:r>
            <a:r>
              <a:rPr lang="zh-CN" altLang="en-US">
                <a:solidFill>
                  <a:schemeClr val="tx1"/>
                </a:solidFill>
              </a:rPr>
              <a:t>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文本框 47"/>
          <p:cNvSpPr txBox="1"/>
          <p:nvPr>
            <p:custDataLst>
              <p:tags r:id="rId18"/>
            </p:custDataLst>
          </p:nvPr>
        </p:nvSpPr>
        <p:spPr>
          <a:xfrm>
            <a:off x="7919720" y="4542790"/>
            <a:ext cx="1104265" cy="671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报告</a:t>
            </a:r>
            <a:r>
              <a:rPr lang="zh-CN" altLang="en-US">
                <a:solidFill>
                  <a:schemeClr val="tx1"/>
                </a:solidFill>
              </a:rPr>
              <a:t>模板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5" name="直接连接符 64"/>
          <p:cNvCxnSpPr/>
          <p:nvPr/>
        </p:nvCxnSpPr>
        <p:spPr>
          <a:xfrm flipH="1">
            <a:off x="6083935" y="3722370"/>
            <a:ext cx="1174115" cy="820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endCxn id="47" idx="0"/>
          </p:cNvCxnSpPr>
          <p:nvPr/>
        </p:nvCxnSpPr>
        <p:spPr>
          <a:xfrm>
            <a:off x="7258050" y="3722370"/>
            <a:ext cx="0" cy="820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endCxn id="48" idx="0"/>
          </p:cNvCxnSpPr>
          <p:nvPr/>
        </p:nvCxnSpPr>
        <p:spPr>
          <a:xfrm>
            <a:off x="7258050" y="3722370"/>
            <a:ext cx="1214120" cy="820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下箭头 69"/>
          <p:cNvSpPr/>
          <p:nvPr>
            <p:custDataLst>
              <p:tags r:id="rId19"/>
            </p:custDataLst>
          </p:nvPr>
        </p:nvSpPr>
        <p:spPr>
          <a:xfrm>
            <a:off x="7100570" y="253873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/>
          <p:cNvSpPr txBox="1"/>
          <p:nvPr>
            <p:custDataLst>
              <p:tags r:id="rId20"/>
            </p:custDataLst>
          </p:nvPr>
        </p:nvSpPr>
        <p:spPr>
          <a:xfrm>
            <a:off x="6228080" y="5730240"/>
            <a:ext cx="20593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/>
                </a:solidFill>
              </a:rPr>
              <a:t>输出</a:t>
            </a:r>
            <a:r>
              <a:rPr lang="zh-CN" altLang="en-US">
                <a:solidFill>
                  <a:schemeClr val="tx1"/>
                </a:solidFill>
              </a:rPr>
              <a:t>结果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下箭头 71"/>
          <p:cNvSpPr/>
          <p:nvPr>
            <p:custDataLst>
              <p:tags r:id="rId21"/>
            </p:custDataLst>
          </p:nvPr>
        </p:nvSpPr>
        <p:spPr>
          <a:xfrm>
            <a:off x="7100570" y="5339080"/>
            <a:ext cx="314960" cy="314960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3" name="右大括号 72"/>
          <p:cNvSpPr/>
          <p:nvPr/>
        </p:nvSpPr>
        <p:spPr>
          <a:xfrm>
            <a:off x="4293235" y="1804035"/>
            <a:ext cx="660400" cy="38989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/>
        </p:nvSpPr>
        <p:spPr>
          <a:xfrm>
            <a:off x="4940935" y="1802765"/>
            <a:ext cx="2311400" cy="1945640"/>
          </a:xfrm>
          <a:custGeom>
            <a:avLst/>
            <a:gdLst>
              <a:gd name="connisteX0" fmla="*/ 0 w 2311511"/>
              <a:gd name="connsiteY0" fmla="*/ 1944228 h 1945357"/>
              <a:gd name="connisteX1" fmla="*/ 76200 w 2311511"/>
              <a:gd name="connsiteY1" fmla="*/ 1944228 h 1945357"/>
              <a:gd name="connisteX2" fmla="*/ 165100 w 2311511"/>
              <a:gd name="connsiteY2" fmla="*/ 1944228 h 1945357"/>
              <a:gd name="connisteX3" fmla="*/ 241300 w 2311511"/>
              <a:gd name="connsiteY3" fmla="*/ 1931528 h 1945357"/>
              <a:gd name="connisteX4" fmla="*/ 317500 w 2311511"/>
              <a:gd name="connsiteY4" fmla="*/ 1893428 h 1945357"/>
              <a:gd name="connisteX5" fmla="*/ 393700 w 2311511"/>
              <a:gd name="connsiteY5" fmla="*/ 1855328 h 1945357"/>
              <a:gd name="connisteX6" fmla="*/ 469900 w 2311511"/>
              <a:gd name="connsiteY6" fmla="*/ 1779128 h 1945357"/>
              <a:gd name="connisteX7" fmla="*/ 533400 w 2311511"/>
              <a:gd name="connsiteY7" fmla="*/ 1702928 h 1945357"/>
              <a:gd name="connisteX8" fmla="*/ 571500 w 2311511"/>
              <a:gd name="connsiteY8" fmla="*/ 1626728 h 1945357"/>
              <a:gd name="connisteX9" fmla="*/ 596900 w 2311511"/>
              <a:gd name="connsiteY9" fmla="*/ 1550528 h 1945357"/>
              <a:gd name="connisteX10" fmla="*/ 609600 w 2311511"/>
              <a:gd name="connsiteY10" fmla="*/ 1474328 h 1945357"/>
              <a:gd name="connisteX11" fmla="*/ 622300 w 2311511"/>
              <a:gd name="connsiteY11" fmla="*/ 1398128 h 1945357"/>
              <a:gd name="connisteX12" fmla="*/ 635000 w 2311511"/>
              <a:gd name="connsiteY12" fmla="*/ 1321928 h 1945357"/>
              <a:gd name="connisteX13" fmla="*/ 647700 w 2311511"/>
              <a:gd name="connsiteY13" fmla="*/ 1245728 h 1945357"/>
              <a:gd name="connisteX14" fmla="*/ 660400 w 2311511"/>
              <a:gd name="connsiteY14" fmla="*/ 1169528 h 1945357"/>
              <a:gd name="connisteX15" fmla="*/ 685800 w 2311511"/>
              <a:gd name="connsiteY15" fmla="*/ 1093328 h 1945357"/>
              <a:gd name="connisteX16" fmla="*/ 698500 w 2311511"/>
              <a:gd name="connsiteY16" fmla="*/ 1017128 h 1945357"/>
              <a:gd name="connisteX17" fmla="*/ 711200 w 2311511"/>
              <a:gd name="connsiteY17" fmla="*/ 940928 h 1945357"/>
              <a:gd name="connisteX18" fmla="*/ 736600 w 2311511"/>
              <a:gd name="connsiteY18" fmla="*/ 864728 h 1945357"/>
              <a:gd name="connisteX19" fmla="*/ 762000 w 2311511"/>
              <a:gd name="connsiteY19" fmla="*/ 788528 h 1945357"/>
              <a:gd name="connisteX20" fmla="*/ 787400 w 2311511"/>
              <a:gd name="connsiteY20" fmla="*/ 712328 h 1945357"/>
              <a:gd name="connisteX21" fmla="*/ 825500 w 2311511"/>
              <a:gd name="connsiteY21" fmla="*/ 636128 h 1945357"/>
              <a:gd name="connisteX22" fmla="*/ 850900 w 2311511"/>
              <a:gd name="connsiteY22" fmla="*/ 559928 h 1945357"/>
              <a:gd name="connisteX23" fmla="*/ 889000 w 2311511"/>
              <a:gd name="connsiteY23" fmla="*/ 483728 h 1945357"/>
              <a:gd name="connisteX24" fmla="*/ 939800 w 2311511"/>
              <a:gd name="connsiteY24" fmla="*/ 407528 h 1945357"/>
              <a:gd name="connisteX25" fmla="*/ 977900 w 2311511"/>
              <a:gd name="connsiteY25" fmla="*/ 331328 h 1945357"/>
              <a:gd name="connisteX26" fmla="*/ 1016000 w 2311511"/>
              <a:gd name="connsiteY26" fmla="*/ 255128 h 1945357"/>
              <a:gd name="connisteX27" fmla="*/ 1079500 w 2311511"/>
              <a:gd name="connsiteY27" fmla="*/ 178928 h 1945357"/>
              <a:gd name="connisteX28" fmla="*/ 1155700 w 2311511"/>
              <a:gd name="connsiteY28" fmla="*/ 140828 h 1945357"/>
              <a:gd name="connisteX29" fmla="*/ 1231900 w 2311511"/>
              <a:gd name="connsiteY29" fmla="*/ 90028 h 1945357"/>
              <a:gd name="connisteX30" fmla="*/ 1308100 w 2311511"/>
              <a:gd name="connsiteY30" fmla="*/ 64628 h 1945357"/>
              <a:gd name="connisteX31" fmla="*/ 1384300 w 2311511"/>
              <a:gd name="connsiteY31" fmla="*/ 39228 h 1945357"/>
              <a:gd name="connisteX32" fmla="*/ 1460500 w 2311511"/>
              <a:gd name="connsiteY32" fmla="*/ 26528 h 1945357"/>
              <a:gd name="connisteX33" fmla="*/ 1536700 w 2311511"/>
              <a:gd name="connsiteY33" fmla="*/ 26528 h 1945357"/>
              <a:gd name="connisteX34" fmla="*/ 1612900 w 2311511"/>
              <a:gd name="connsiteY34" fmla="*/ 13828 h 1945357"/>
              <a:gd name="connisteX35" fmla="*/ 1689100 w 2311511"/>
              <a:gd name="connsiteY35" fmla="*/ 1128 h 1945357"/>
              <a:gd name="connisteX36" fmla="*/ 1765300 w 2311511"/>
              <a:gd name="connsiteY36" fmla="*/ 1128 h 1945357"/>
              <a:gd name="connisteX37" fmla="*/ 1841500 w 2311511"/>
              <a:gd name="connsiteY37" fmla="*/ 1128 h 1945357"/>
              <a:gd name="connisteX38" fmla="*/ 1917700 w 2311511"/>
              <a:gd name="connsiteY38" fmla="*/ 13828 h 1945357"/>
              <a:gd name="connisteX39" fmla="*/ 1993900 w 2311511"/>
              <a:gd name="connsiteY39" fmla="*/ 26528 h 1945357"/>
              <a:gd name="connisteX40" fmla="*/ 2070100 w 2311511"/>
              <a:gd name="connsiteY40" fmla="*/ 51928 h 1945357"/>
              <a:gd name="connisteX41" fmla="*/ 2146300 w 2311511"/>
              <a:gd name="connsiteY41" fmla="*/ 77328 h 1945357"/>
              <a:gd name="connisteX42" fmla="*/ 2222500 w 2311511"/>
              <a:gd name="connsiteY42" fmla="*/ 115428 h 1945357"/>
              <a:gd name="connisteX43" fmla="*/ 2298700 w 2311511"/>
              <a:gd name="connsiteY43" fmla="*/ 153528 h 1945357"/>
              <a:gd name="connisteX44" fmla="*/ 2311400 w 2311511"/>
              <a:gd name="connsiteY44" fmla="*/ 229728 h 19453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</a:cxnLst>
            <a:rect l="l" t="t" r="r" b="b"/>
            <a:pathLst>
              <a:path w="2311512" h="1945358">
                <a:moveTo>
                  <a:pt x="0" y="1944229"/>
                </a:moveTo>
                <a:cubicBezTo>
                  <a:pt x="13335" y="1944229"/>
                  <a:pt x="43180" y="1944229"/>
                  <a:pt x="76200" y="1944229"/>
                </a:cubicBezTo>
                <a:cubicBezTo>
                  <a:pt x="109220" y="1944229"/>
                  <a:pt x="132080" y="1946769"/>
                  <a:pt x="165100" y="1944229"/>
                </a:cubicBezTo>
                <a:cubicBezTo>
                  <a:pt x="198120" y="1941689"/>
                  <a:pt x="210820" y="1941689"/>
                  <a:pt x="241300" y="1931529"/>
                </a:cubicBezTo>
                <a:cubicBezTo>
                  <a:pt x="271780" y="1921369"/>
                  <a:pt x="287020" y="1908669"/>
                  <a:pt x="317500" y="1893429"/>
                </a:cubicBezTo>
                <a:cubicBezTo>
                  <a:pt x="347980" y="1878189"/>
                  <a:pt x="363220" y="1878189"/>
                  <a:pt x="393700" y="1855329"/>
                </a:cubicBezTo>
                <a:cubicBezTo>
                  <a:pt x="424180" y="1832469"/>
                  <a:pt x="441960" y="1809609"/>
                  <a:pt x="469900" y="1779129"/>
                </a:cubicBezTo>
                <a:cubicBezTo>
                  <a:pt x="497840" y="1748649"/>
                  <a:pt x="513080" y="1733409"/>
                  <a:pt x="533400" y="1702929"/>
                </a:cubicBezTo>
                <a:cubicBezTo>
                  <a:pt x="553720" y="1672449"/>
                  <a:pt x="558800" y="1657209"/>
                  <a:pt x="571500" y="1626729"/>
                </a:cubicBezTo>
                <a:cubicBezTo>
                  <a:pt x="584200" y="1596249"/>
                  <a:pt x="589280" y="1581009"/>
                  <a:pt x="596900" y="1550529"/>
                </a:cubicBezTo>
                <a:cubicBezTo>
                  <a:pt x="604520" y="1520049"/>
                  <a:pt x="604520" y="1504809"/>
                  <a:pt x="609600" y="1474329"/>
                </a:cubicBezTo>
                <a:cubicBezTo>
                  <a:pt x="614680" y="1443849"/>
                  <a:pt x="617220" y="1428609"/>
                  <a:pt x="622300" y="1398129"/>
                </a:cubicBezTo>
                <a:cubicBezTo>
                  <a:pt x="627380" y="1367649"/>
                  <a:pt x="629920" y="1352409"/>
                  <a:pt x="635000" y="1321929"/>
                </a:cubicBezTo>
                <a:cubicBezTo>
                  <a:pt x="640080" y="1291449"/>
                  <a:pt x="642620" y="1276209"/>
                  <a:pt x="647700" y="1245729"/>
                </a:cubicBezTo>
                <a:cubicBezTo>
                  <a:pt x="652780" y="1215249"/>
                  <a:pt x="652780" y="1200009"/>
                  <a:pt x="660400" y="1169529"/>
                </a:cubicBezTo>
                <a:cubicBezTo>
                  <a:pt x="668020" y="1139049"/>
                  <a:pt x="678180" y="1123809"/>
                  <a:pt x="685800" y="1093329"/>
                </a:cubicBezTo>
                <a:cubicBezTo>
                  <a:pt x="693420" y="1062849"/>
                  <a:pt x="693420" y="1047609"/>
                  <a:pt x="698500" y="1017129"/>
                </a:cubicBezTo>
                <a:cubicBezTo>
                  <a:pt x="703580" y="986649"/>
                  <a:pt x="703580" y="971409"/>
                  <a:pt x="711200" y="940929"/>
                </a:cubicBezTo>
                <a:cubicBezTo>
                  <a:pt x="718820" y="910449"/>
                  <a:pt x="726440" y="895209"/>
                  <a:pt x="736600" y="864729"/>
                </a:cubicBezTo>
                <a:cubicBezTo>
                  <a:pt x="746760" y="834249"/>
                  <a:pt x="751840" y="819009"/>
                  <a:pt x="762000" y="788529"/>
                </a:cubicBezTo>
                <a:cubicBezTo>
                  <a:pt x="772160" y="758049"/>
                  <a:pt x="774700" y="742809"/>
                  <a:pt x="787400" y="712329"/>
                </a:cubicBezTo>
                <a:cubicBezTo>
                  <a:pt x="800100" y="681849"/>
                  <a:pt x="812800" y="666609"/>
                  <a:pt x="825500" y="636129"/>
                </a:cubicBezTo>
                <a:cubicBezTo>
                  <a:pt x="838200" y="605649"/>
                  <a:pt x="838200" y="590409"/>
                  <a:pt x="850900" y="559929"/>
                </a:cubicBezTo>
                <a:cubicBezTo>
                  <a:pt x="863600" y="529449"/>
                  <a:pt x="871220" y="514209"/>
                  <a:pt x="889000" y="483729"/>
                </a:cubicBezTo>
                <a:cubicBezTo>
                  <a:pt x="906780" y="453249"/>
                  <a:pt x="922020" y="438009"/>
                  <a:pt x="939800" y="407529"/>
                </a:cubicBezTo>
                <a:cubicBezTo>
                  <a:pt x="957580" y="377049"/>
                  <a:pt x="962660" y="361809"/>
                  <a:pt x="977900" y="331329"/>
                </a:cubicBezTo>
                <a:cubicBezTo>
                  <a:pt x="993140" y="300849"/>
                  <a:pt x="995680" y="285609"/>
                  <a:pt x="1016000" y="255129"/>
                </a:cubicBezTo>
                <a:cubicBezTo>
                  <a:pt x="1036320" y="224649"/>
                  <a:pt x="1051560" y="201789"/>
                  <a:pt x="1079500" y="178929"/>
                </a:cubicBezTo>
                <a:cubicBezTo>
                  <a:pt x="1107440" y="156069"/>
                  <a:pt x="1125220" y="158609"/>
                  <a:pt x="1155700" y="140829"/>
                </a:cubicBezTo>
                <a:cubicBezTo>
                  <a:pt x="1186180" y="123049"/>
                  <a:pt x="1201420" y="105269"/>
                  <a:pt x="1231900" y="90029"/>
                </a:cubicBezTo>
                <a:cubicBezTo>
                  <a:pt x="1262380" y="74789"/>
                  <a:pt x="1277620" y="74789"/>
                  <a:pt x="1308100" y="64629"/>
                </a:cubicBezTo>
                <a:cubicBezTo>
                  <a:pt x="1338580" y="54469"/>
                  <a:pt x="1353820" y="46849"/>
                  <a:pt x="1384300" y="39229"/>
                </a:cubicBezTo>
                <a:cubicBezTo>
                  <a:pt x="1414780" y="31609"/>
                  <a:pt x="1430020" y="29069"/>
                  <a:pt x="1460500" y="26529"/>
                </a:cubicBezTo>
                <a:cubicBezTo>
                  <a:pt x="1490980" y="23989"/>
                  <a:pt x="1506220" y="29069"/>
                  <a:pt x="1536700" y="26529"/>
                </a:cubicBezTo>
                <a:cubicBezTo>
                  <a:pt x="1567180" y="23989"/>
                  <a:pt x="1582420" y="18909"/>
                  <a:pt x="1612900" y="13829"/>
                </a:cubicBezTo>
                <a:cubicBezTo>
                  <a:pt x="1643380" y="8749"/>
                  <a:pt x="1658620" y="3669"/>
                  <a:pt x="1689100" y="1129"/>
                </a:cubicBezTo>
                <a:cubicBezTo>
                  <a:pt x="1719580" y="-1411"/>
                  <a:pt x="1734820" y="1129"/>
                  <a:pt x="1765300" y="1129"/>
                </a:cubicBezTo>
                <a:cubicBezTo>
                  <a:pt x="1795780" y="1129"/>
                  <a:pt x="1811020" y="-1411"/>
                  <a:pt x="1841500" y="1129"/>
                </a:cubicBezTo>
                <a:cubicBezTo>
                  <a:pt x="1871980" y="3669"/>
                  <a:pt x="1887220" y="8749"/>
                  <a:pt x="1917700" y="13829"/>
                </a:cubicBezTo>
                <a:cubicBezTo>
                  <a:pt x="1948180" y="18909"/>
                  <a:pt x="1963420" y="18909"/>
                  <a:pt x="1993900" y="26529"/>
                </a:cubicBezTo>
                <a:cubicBezTo>
                  <a:pt x="2024380" y="34149"/>
                  <a:pt x="2039620" y="41769"/>
                  <a:pt x="2070100" y="51929"/>
                </a:cubicBezTo>
                <a:cubicBezTo>
                  <a:pt x="2100580" y="62089"/>
                  <a:pt x="2115820" y="64629"/>
                  <a:pt x="2146300" y="77329"/>
                </a:cubicBezTo>
                <a:cubicBezTo>
                  <a:pt x="2176780" y="90029"/>
                  <a:pt x="2192020" y="100189"/>
                  <a:pt x="2222500" y="115429"/>
                </a:cubicBezTo>
                <a:cubicBezTo>
                  <a:pt x="2252980" y="130669"/>
                  <a:pt x="2280920" y="130669"/>
                  <a:pt x="2298700" y="153529"/>
                </a:cubicBezTo>
                <a:cubicBezTo>
                  <a:pt x="2316480" y="176389"/>
                  <a:pt x="2310130" y="215124"/>
                  <a:pt x="2311400" y="229729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10157460" y="3134360"/>
            <a:ext cx="1954530" cy="405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0" name="任意多边形 79"/>
          <p:cNvSpPr/>
          <p:nvPr/>
        </p:nvSpPr>
        <p:spPr>
          <a:xfrm>
            <a:off x="8281035" y="3682365"/>
            <a:ext cx="1371600" cy="2239010"/>
          </a:xfrm>
          <a:custGeom>
            <a:avLst/>
            <a:gdLst>
              <a:gd name="connisteX0" fmla="*/ 0 w 1371600"/>
              <a:gd name="connsiteY0" fmla="*/ 2540000 h 2567657"/>
              <a:gd name="connisteX1" fmla="*/ 76200 w 1371600"/>
              <a:gd name="connsiteY1" fmla="*/ 2552700 h 2567657"/>
              <a:gd name="connisteX2" fmla="*/ 152400 w 1371600"/>
              <a:gd name="connsiteY2" fmla="*/ 2565400 h 2567657"/>
              <a:gd name="connisteX3" fmla="*/ 228600 w 1371600"/>
              <a:gd name="connsiteY3" fmla="*/ 2565400 h 2567657"/>
              <a:gd name="connisteX4" fmla="*/ 304800 w 1371600"/>
              <a:gd name="connsiteY4" fmla="*/ 2565400 h 2567657"/>
              <a:gd name="connisteX5" fmla="*/ 381000 w 1371600"/>
              <a:gd name="connsiteY5" fmla="*/ 2565400 h 2567657"/>
              <a:gd name="connisteX6" fmla="*/ 457200 w 1371600"/>
              <a:gd name="connsiteY6" fmla="*/ 2540000 h 2567657"/>
              <a:gd name="connisteX7" fmla="*/ 533400 w 1371600"/>
              <a:gd name="connsiteY7" fmla="*/ 2514600 h 2567657"/>
              <a:gd name="connisteX8" fmla="*/ 609600 w 1371600"/>
              <a:gd name="connsiteY8" fmla="*/ 2489200 h 2567657"/>
              <a:gd name="connisteX9" fmla="*/ 685800 w 1371600"/>
              <a:gd name="connsiteY9" fmla="*/ 2463800 h 2567657"/>
              <a:gd name="connisteX10" fmla="*/ 762000 w 1371600"/>
              <a:gd name="connsiteY10" fmla="*/ 2413000 h 2567657"/>
              <a:gd name="connisteX11" fmla="*/ 812800 w 1371600"/>
              <a:gd name="connsiteY11" fmla="*/ 2336800 h 2567657"/>
              <a:gd name="connisteX12" fmla="*/ 876300 w 1371600"/>
              <a:gd name="connsiteY12" fmla="*/ 2260600 h 2567657"/>
              <a:gd name="connisteX13" fmla="*/ 927100 w 1371600"/>
              <a:gd name="connsiteY13" fmla="*/ 2184400 h 2567657"/>
              <a:gd name="connisteX14" fmla="*/ 965200 w 1371600"/>
              <a:gd name="connsiteY14" fmla="*/ 2108200 h 2567657"/>
              <a:gd name="connisteX15" fmla="*/ 1003300 w 1371600"/>
              <a:gd name="connsiteY15" fmla="*/ 2032000 h 2567657"/>
              <a:gd name="connisteX16" fmla="*/ 1028700 w 1371600"/>
              <a:gd name="connsiteY16" fmla="*/ 1955800 h 2567657"/>
              <a:gd name="connisteX17" fmla="*/ 1054100 w 1371600"/>
              <a:gd name="connsiteY17" fmla="*/ 1879600 h 2567657"/>
              <a:gd name="connisteX18" fmla="*/ 1066800 w 1371600"/>
              <a:gd name="connsiteY18" fmla="*/ 1803400 h 2567657"/>
              <a:gd name="connisteX19" fmla="*/ 1092200 w 1371600"/>
              <a:gd name="connsiteY19" fmla="*/ 1727200 h 2567657"/>
              <a:gd name="connisteX20" fmla="*/ 1092200 w 1371600"/>
              <a:gd name="connsiteY20" fmla="*/ 1651000 h 2567657"/>
              <a:gd name="connisteX21" fmla="*/ 1092200 w 1371600"/>
              <a:gd name="connsiteY21" fmla="*/ 1574800 h 2567657"/>
              <a:gd name="connisteX22" fmla="*/ 1092200 w 1371600"/>
              <a:gd name="connsiteY22" fmla="*/ 1498600 h 2567657"/>
              <a:gd name="connisteX23" fmla="*/ 1092200 w 1371600"/>
              <a:gd name="connsiteY23" fmla="*/ 1422400 h 2567657"/>
              <a:gd name="connisteX24" fmla="*/ 1092200 w 1371600"/>
              <a:gd name="connsiteY24" fmla="*/ 1346200 h 2567657"/>
              <a:gd name="connisteX25" fmla="*/ 1092200 w 1371600"/>
              <a:gd name="connsiteY25" fmla="*/ 1270000 h 2567657"/>
              <a:gd name="connisteX26" fmla="*/ 1092200 w 1371600"/>
              <a:gd name="connsiteY26" fmla="*/ 1181100 h 2567657"/>
              <a:gd name="connisteX27" fmla="*/ 1092200 w 1371600"/>
              <a:gd name="connsiteY27" fmla="*/ 1104900 h 2567657"/>
              <a:gd name="connisteX28" fmla="*/ 1092200 w 1371600"/>
              <a:gd name="connsiteY28" fmla="*/ 1028700 h 2567657"/>
              <a:gd name="connisteX29" fmla="*/ 1079500 w 1371600"/>
              <a:gd name="connsiteY29" fmla="*/ 952500 h 2567657"/>
              <a:gd name="connisteX30" fmla="*/ 1079500 w 1371600"/>
              <a:gd name="connsiteY30" fmla="*/ 876300 h 2567657"/>
              <a:gd name="connisteX31" fmla="*/ 1066800 w 1371600"/>
              <a:gd name="connsiteY31" fmla="*/ 787400 h 2567657"/>
              <a:gd name="connisteX32" fmla="*/ 1066800 w 1371600"/>
              <a:gd name="connsiteY32" fmla="*/ 711200 h 2567657"/>
              <a:gd name="connisteX33" fmla="*/ 1054100 w 1371600"/>
              <a:gd name="connsiteY33" fmla="*/ 622300 h 2567657"/>
              <a:gd name="connisteX34" fmla="*/ 1054100 w 1371600"/>
              <a:gd name="connsiteY34" fmla="*/ 546100 h 2567657"/>
              <a:gd name="connisteX35" fmla="*/ 1028700 w 1371600"/>
              <a:gd name="connsiteY35" fmla="*/ 469900 h 2567657"/>
              <a:gd name="connisteX36" fmla="*/ 1028700 w 1371600"/>
              <a:gd name="connsiteY36" fmla="*/ 393700 h 2567657"/>
              <a:gd name="connisteX37" fmla="*/ 1028700 w 1371600"/>
              <a:gd name="connsiteY37" fmla="*/ 317500 h 2567657"/>
              <a:gd name="connisteX38" fmla="*/ 1041400 w 1371600"/>
              <a:gd name="connsiteY38" fmla="*/ 241300 h 2567657"/>
              <a:gd name="connisteX39" fmla="*/ 1066800 w 1371600"/>
              <a:gd name="connsiteY39" fmla="*/ 165100 h 2567657"/>
              <a:gd name="connisteX40" fmla="*/ 1143000 w 1371600"/>
              <a:gd name="connsiteY40" fmla="*/ 101600 h 2567657"/>
              <a:gd name="connisteX41" fmla="*/ 1219200 w 1371600"/>
              <a:gd name="connsiteY41" fmla="*/ 38100 h 2567657"/>
              <a:gd name="connisteX42" fmla="*/ 1295400 w 1371600"/>
              <a:gd name="connsiteY42" fmla="*/ 12700 h 2567657"/>
              <a:gd name="connisteX43" fmla="*/ 1371600 w 1371600"/>
              <a:gd name="connsiteY43" fmla="*/ 0 h 256765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</a:cxnLst>
            <a:rect l="l" t="t" r="r" b="b"/>
            <a:pathLst>
              <a:path w="1371600" h="2567658">
                <a:moveTo>
                  <a:pt x="0" y="2540000"/>
                </a:moveTo>
                <a:cubicBezTo>
                  <a:pt x="13970" y="2542540"/>
                  <a:pt x="45720" y="2547620"/>
                  <a:pt x="76200" y="2552700"/>
                </a:cubicBezTo>
                <a:cubicBezTo>
                  <a:pt x="106680" y="2557780"/>
                  <a:pt x="121920" y="2562860"/>
                  <a:pt x="152400" y="2565400"/>
                </a:cubicBezTo>
                <a:cubicBezTo>
                  <a:pt x="182880" y="2567940"/>
                  <a:pt x="198120" y="2565400"/>
                  <a:pt x="228600" y="2565400"/>
                </a:cubicBezTo>
                <a:cubicBezTo>
                  <a:pt x="259080" y="2565400"/>
                  <a:pt x="274320" y="2565400"/>
                  <a:pt x="304800" y="2565400"/>
                </a:cubicBezTo>
                <a:cubicBezTo>
                  <a:pt x="335280" y="2565400"/>
                  <a:pt x="350520" y="2570480"/>
                  <a:pt x="381000" y="2565400"/>
                </a:cubicBezTo>
                <a:cubicBezTo>
                  <a:pt x="411480" y="2560320"/>
                  <a:pt x="426720" y="2550160"/>
                  <a:pt x="457200" y="2540000"/>
                </a:cubicBezTo>
                <a:cubicBezTo>
                  <a:pt x="487680" y="2529840"/>
                  <a:pt x="502920" y="2524760"/>
                  <a:pt x="533400" y="2514600"/>
                </a:cubicBezTo>
                <a:cubicBezTo>
                  <a:pt x="563880" y="2504440"/>
                  <a:pt x="579120" y="2499360"/>
                  <a:pt x="609600" y="2489200"/>
                </a:cubicBezTo>
                <a:cubicBezTo>
                  <a:pt x="640080" y="2479040"/>
                  <a:pt x="655320" y="2479040"/>
                  <a:pt x="685800" y="2463800"/>
                </a:cubicBezTo>
                <a:cubicBezTo>
                  <a:pt x="716280" y="2448560"/>
                  <a:pt x="736600" y="2438400"/>
                  <a:pt x="762000" y="2413000"/>
                </a:cubicBezTo>
                <a:cubicBezTo>
                  <a:pt x="787400" y="2387600"/>
                  <a:pt x="789940" y="2367280"/>
                  <a:pt x="812800" y="2336800"/>
                </a:cubicBezTo>
                <a:cubicBezTo>
                  <a:pt x="835660" y="2306320"/>
                  <a:pt x="853440" y="2291080"/>
                  <a:pt x="876300" y="2260600"/>
                </a:cubicBezTo>
                <a:cubicBezTo>
                  <a:pt x="899160" y="2230120"/>
                  <a:pt x="909320" y="2214880"/>
                  <a:pt x="927100" y="2184400"/>
                </a:cubicBezTo>
                <a:cubicBezTo>
                  <a:pt x="944880" y="2153920"/>
                  <a:pt x="949960" y="2138680"/>
                  <a:pt x="965200" y="2108200"/>
                </a:cubicBezTo>
                <a:cubicBezTo>
                  <a:pt x="980440" y="2077720"/>
                  <a:pt x="990600" y="2062480"/>
                  <a:pt x="1003300" y="2032000"/>
                </a:cubicBezTo>
                <a:cubicBezTo>
                  <a:pt x="1016000" y="2001520"/>
                  <a:pt x="1018540" y="1986280"/>
                  <a:pt x="1028700" y="1955800"/>
                </a:cubicBezTo>
                <a:cubicBezTo>
                  <a:pt x="1038860" y="1925320"/>
                  <a:pt x="1046480" y="1910080"/>
                  <a:pt x="1054100" y="1879600"/>
                </a:cubicBezTo>
                <a:cubicBezTo>
                  <a:pt x="1061720" y="1849120"/>
                  <a:pt x="1059180" y="1833880"/>
                  <a:pt x="1066800" y="1803400"/>
                </a:cubicBezTo>
                <a:cubicBezTo>
                  <a:pt x="1074420" y="1772920"/>
                  <a:pt x="1087120" y="1757680"/>
                  <a:pt x="1092200" y="1727200"/>
                </a:cubicBezTo>
                <a:cubicBezTo>
                  <a:pt x="1097280" y="1696720"/>
                  <a:pt x="1092200" y="1681480"/>
                  <a:pt x="1092200" y="1651000"/>
                </a:cubicBezTo>
                <a:cubicBezTo>
                  <a:pt x="1092200" y="1620520"/>
                  <a:pt x="1092200" y="1605280"/>
                  <a:pt x="1092200" y="1574800"/>
                </a:cubicBezTo>
                <a:cubicBezTo>
                  <a:pt x="1092200" y="1544320"/>
                  <a:pt x="1092200" y="1529080"/>
                  <a:pt x="1092200" y="1498600"/>
                </a:cubicBezTo>
                <a:cubicBezTo>
                  <a:pt x="1092200" y="1468120"/>
                  <a:pt x="1092200" y="1452880"/>
                  <a:pt x="1092200" y="1422400"/>
                </a:cubicBezTo>
                <a:cubicBezTo>
                  <a:pt x="1092200" y="1391920"/>
                  <a:pt x="1092200" y="1376680"/>
                  <a:pt x="1092200" y="1346200"/>
                </a:cubicBezTo>
                <a:cubicBezTo>
                  <a:pt x="1092200" y="1315720"/>
                  <a:pt x="1092200" y="1303020"/>
                  <a:pt x="1092200" y="1270000"/>
                </a:cubicBezTo>
                <a:cubicBezTo>
                  <a:pt x="1092200" y="1236980"/>
                  <a:pt x="1092200" y="1214120"/>
                  <a:pt x="1092200" y="1181100"/>
                </a:cubicBezTo>
                <a:cubicBezTo>
                  <a:pt x="1092200" y="1148080"/>
                  <a:pt x="1092200" y="1135380"/>
                  <a:pt x="1092200" y="1104900"/>
                </a:cubicBezTo>
                <a:cubicBezTo>
                  <a:pt x="1092200" y="1074420"/>
                  <a:pt x="1094740" y="1059180"/>
                  <a:pt x="1092200" y="1028700"/>
                </a:cubicBezTo>
                <a:cubicBezTo>
                  <a:pt x="1089660" y="998220"/>
                  <a:pt x="1082040" y="982980"/>
                  <a:pt x="1079500" y="952500"/>
                </a:cubicBezTo>
                <a:cubicBezTo>
                  <a:pt x="1076960" y="922020"/>
                  <a:pt x="1082040" y="909320"/>
                  <a:pt x="1079500" y="876300"/>
                </a:cubicBezTo>
                <a:cubicBezTo>
                  <a:pt x="1076960" y="843280"/>
                  <a:pt x="1069340" y="820420"/>
                  <a:pt x="1066800" y="787400"/>
                </a:cubicBezTo>
                <a:cubicBezTo>
                  <a:pt x="1064260" y="754380"/>
                  <a:pt x="1069340" y="744220"/>
                  <a:pt x="1066800" y="711200"/>
                </a:cubicBezTo>
                <a:cubicBezTo>
                  <a:pt x="1064260" y="678180"/>
                  <a:pt x="1056640" y="655320"/>
                  <a:pt x="1054100" y="622300"/>
                </a:cubicBezTo>
                <a:cubicBezTo>
                  <a:pt x="1051560" y="589280"/>
                  <a:pt x="1059180" y="576580"/>
                  <a:pt x="1054100" y="546100"/>
                </a:cubicBezTo>
                <a:cubicBezTo>
                  <a:pt x="1049020" y="515620"/>
                  <a:pt x="1033780" y="500380"/>
                  <a:pt x="1028700" y="469900"/>
                </a:cubicBezTo>
                <a:cubicBezTo>
                  <a:pt x="1023620" y="439420"/>
                  <a:pt x="1028700" y="424180"/>
                  <a:pt x="1028700" y="393700"/>
                </a:cubicBezTo>
                <a:cubicBezTo>
                  <a:pt x="1028700" y="363220"/>
                  <a:pt x="1026160" y="347980"/>
                  <a:pt x="1028700" y="317500"/>
                </a:cubicBezTo>
                <a:cubicBezTo>
                  <a:pt x="1031240" y="287020"/>
                  <a:pt x="1033780" y="271780"/>
                  <a:pt x="1041400" y="241300"/>
                </a:cubicBezTo>
                <a:cubicBezTo>
                  <a:pt x="1049020" y="210820"/>
                  <a:pt x="1046480" y="193040"/>
                  <a:pt x="1066800" y="165100"/>
                </a:cubicBezTo>
                <a:cubicBezTo>
                  <a:pt x="1087120" y="137160"/>
                  <a:pt x="1112520" y="127000"/>
                  <a:pt x="1143000" y="101600"/>
                </a:cubicBezTo>
                <a:cubicBezTo>
                  <a:pt x="1173480" y="76200"/>
                  <a:pt x="1188720" y="55880"/>
                  <a:pt x="1219200" y="38100"/>
                </a:cubicBezTo>
                <a:cubicBezTo>
                  <a:pt x="1249680" y="20320"/>
                  <a:pt x="1264920" y="20320"/>
                  <a:pt x="1295400" y="12700"/>
                </a:cubicBezTo>
                <a:cubicBezTo>
                  <a:pt x="1325880" y="5080"/>
                  <a:pt x="1357630" y="1905"/>
                  <a:pt x="1371600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5741670" y="4001135"/>
            <a:ext cx="727710" cy="25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82" name="文本框 81"/>
          <p:cNvSpPr txBox="1"/>
          <p:nvPr/>
        </p:nvSpPr>
        <p:spPr>
          <a:xfrm>
            <a:off x="6687820" y="4102735"/>
            <a:ext cx="727710" cy="25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7919720" y="4001135"/>
            <a:ext cx="727710" cy="255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调用</a:t>
            </a:r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22"/>
            </p:custDataLst>
          </p:nvPr>
        </p:nvSpPr>
        <p:spPr>
          <a:xfrm>
            <a:off x="9680575" y="2682875"/>
            <a:ext cx="2436495" cy="9220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分析</a:t>
            </a:r>
            <a:r>
              <a:rPr lang="zh-CN" altLang="en-US">
                <a:solidFill>
                  <a:schemeClr val="tx1"/>
                </a:solidFill>
              </a:rPr>
              <a:t>某行业，某地区在一定时间范围内的安全生产总体</a:t>
            </a:r>
            <a:r>
              <a:rPr lang="zh-CN" altLang="en-US">
                <a:solidFill>
                  <a:schemeClr val="tx1"/>
                </a:solidFill>
              </a:rPr>
              <a:t>形势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6" name="文本框 85"/>
          <p:cNvSpPr txBox="1"/>
          <p:nvPr>
            <p:custDataLst>
              <p:tags r:id="rId23"/>
            </p:custDataLst>
          </p:nvPr>
        </p:nvSpPr>
        <p:spPr>
          <a:xfrm>
            <a:off x="9680575" y="3683000"/>
            <a:ext cx="2436495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</a:rPr>
              <a:t>预测</a:t>
            </a:r>
            <a:r>
              <a:rPr lang="zh-CN" altLang="en-US">
                <a:solidFill>
                  <a:schemeClr val="tx1"/>
                </a:solidFill>
              </a:rPr>
              <a:t>未来一段时间</a:t>
            </a:r>
            <a:r>
              <a:rPr lang="zh-CN" altLang="en-US">
                <a:solidFill>
                  <a:schemeClr val="tx1"/>
                </a:solidFill>
              </a:rPr>
              <a:t>的安全生产</a:t>
            </a:r>
            <a:r>
              <a:rPr lang="zh-CN" altLang="en-US">
                <a:solidFill>
                  <a:schemeClr val="tx1"/>
                </a:solidFill>
              </a:rPr>
              <a:t>风险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831070" y="2225040"/>
            <a:ext cx="217233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两类</a:t>
            </a:r>
            <a:r>
              <a:rPr lang="zh-CN" altLang="en-US"/>
              <a:t>核心结果</a:t>
            </a:r>
            <a:endParaRPr lang="zh-CN" altLang="en-US"/>
          </a:p>
        </p:txBody>
      </p:sp>
    </p:spTree>
    <p:custDataLst>
      <p:tags r:id="rId2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0" y="0"/>
            <a:ext cx="2068830" cy="4603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报告内容</a:t>
            </a:r>
            <a:r>
              <a:rPr lang="zh-CN" altLang="en-US" sz="2400" b="1" i="1">
                <a:solidFill>
                  <a:srgbClr val="002060"/>
                </a:solidFill>
                <a:sym typeface="+mn-ea"/>
              </a:rPr>
              <a:t>模板</a:t>
            </a:r>
            <a:endParaRPr lang="zh-CN" altLang="en-US" sz="2400" b="1" i="1">
              <a:solidFill>
                <a:srgbClr val="002060"/>
              </a:solidFill>
              <a:sym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2"/>
            </p:custDataLst>
          </p:nvPr>
        </p:nvSpPr>
        <p:spPr>
          <a:xfrm>
            <a:off x="216535" y="845820"/>
            <a:ext cx="65024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报告</a:t>
            </a:r>
            <a:r>
              <a:rPr lang="zh-CN" altLang="en-US"/>
              <a:t>参考</a:t>
            </a:r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952500" y="476567"/>
            <a:ext cx="5080000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200">
                <a:hlinkClick r:id="rId3"/>
              </a:rPr>
              <a:t>2026</a:t>
            </a:r>
            <a:r>
              <a:rPr lang="zh-CN" altLang="en-US" sz="1200">
                <a:hlinkClick r:id="rId3"/>
              </a:rPr>
              <a:t>年</a:t>
            </a:r>
            <a:r>
              <a:rPr lang="en-US" altLang="zh-CN" sz="1200">
                <a:hlinkClick r:id="rId3"/>
              </a:rPr>
              <a:t>1—3</a:t>
            </a:r>
            <a:r>
              <a:rPr lang="zh-CN" altLang="en-US" sz="1200">
                <a:hlinkClick r:id="rId3"/>
              </a:rPr>
              <a:t>月份自治区生产安全事故分析及下一阶段风险研判</a:t>
            </a:r>
            <a:r>
              <a:rPr lang="en-US" altLang="zh-CN" sz="1200">
                <a:hlinkClick r:id="rId3"/>
              </a:rPr>
              <a:t>_</a:t>
            </a:r>
            <a:r>
              <a:rPr lang="zh-CN" altLang="en-US" sz="1200">
                <a:hlinkClick r:id="rId3"/>
              </a:rPr>
              <a:t>事故统计及调查处理</a:t>
            </a:r>
            <a:r>
              <a:rPr lang="en-US" altLang="zh-CN" sz="1200">
                <a:hlinkClick r:id="rId3"/>
              </a:rPr>
              <a:t>_</a:t>
            </a:r>
            <a:r>
              <a:rPr lang="zh-CN" altLang="en-US" sz="1200">
                <a:hlinkClick r:id="rId3"/>
              </a:rPr>
              <a:t>新疆维吾尔自治区应急管理厅</a:t>
            </a:r>
            <a:endParaRPr lang="zh-CN" altLang="en-US" sz="1200">
              <a:hlinkClick r:id="rId3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52500" y="1079817"/>
            <a:ext cx="5080000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200">
                <a:hlinkClick r:id="rId4"/>
              </a:rPr>
              <a:t>2025</a:t>
            </a:r>
            <a:r>
              <a:rPr lang="zh-CN" altLang="en-US" sz="1200">
                <a:hlinkClick r:id="rId4"/>
              </a:rPr>
              <a:t>年第三季度全市安全生产 风险形势研判报告</a:t>
            </a:r>
            <a:r>
              <a:rPr lang="en-US" altLang="zh-CN" sz="1200">
                <a:hlinkClick r:id="rId4"/>
              </a:rPr>
              <a:t>-</a:t>
            </a:r>
            <a:r>
              <a:rPr lang="zh-CN" altLang="en-US" sz="1200">
                <a:hlinkClick r:id="rId4"/>
              </a:rPr>
              <a:t>天水市人民政府</a:t>
            </a:r>
            <a:endParaRPr lang="zh-CN" altLang="en-US" sz="1200">
              <a:hlinkClick r:id="rId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52500" y="1436687"/>
            <a:ext cx="5080000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p>
            <a:r>
              <a:rPr lang="en-US" altLang="zh-CN" sz="1200">
                <a:hlinkClick r:id="rId5"/>
              </a:rPr>
              <a:t>2026</a:t>
            </a:r>
            <a:r>
              <a:rPr lang="zh-CN" altLang="en-US" sz="1200">
                <a:hlinkClick r:id="rId5"/>
              </a:rPr>
              <a:t>年上半年且末县生产安全事故、安全生产形势分析研判及防范工作措施</a:t>
            </a:r>
            <a:endParaRPr lang="zh-CN" altLang="en-US" sz="1200">
              <a:hlinkClick r:id="rId5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141085" y="798830"/>
            <a:ext cx="5558790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zh-CN" altLang="en-US" sz="1200">
                <a:hlinkClick r:id="rId6"/>
              </a:rPr>
              <a:t>磁器口街道 </a:t>
            </a:r>
            <a:r>
              <a:rPr lang="en-US" altLang="zh-CN" sz="1200">
                <a:hlinkClick r:id="rId6"/>
              </a:rPr>
              <a:t>- </a:t>
            </a:r>
            <a:r>
              <a:rPr lang="zh-CN" altLang="en-US" sz="1200">
                <a:hlinkClick r:id="rId6"/>
              </a:rPr>
              <a:t>重庆市沙坪坝区人民政府</a:t>
            </a:r>
            <a:endParaRPr lang="zh-CN" altLang="en-US" sz="1200">
              <a:hlinkClick r:id="rId6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141085" y="476250"/>
            <a:ext cx="5558790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zh-CN" altLang="en-US" sz="1200">
                <a:hlinkClick r:id="rId7"/>
              </a:rPr>
              <a:t>开远市</a:t>
            </a:r>
            <a:r>
              <a:rPr lang="en-US" altLang="zh-CN" sz="1200">
                <a:hlinkClick r:id="rId7"/>
              </a:rPr>
              <a:t>2017</a:t>
            </a:r>
            <a:r>
              <a:rPr lang="zh-CN" altLang="en-US" sz="1200">
                <a:hlinkClick r:id="rId7"/>
              </a:rPr>
              <a:t>年上半年安全事故灾难情况和下半年预测分析</a:t>
            </a:r>
            <a:endParaRPr lang="zh-CN" altLang="en-US" sz="1200">
              <a:hlinkClick r:id="rId7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6141085" y="1121410"/>
            <a:ext cx="5558790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200">
                <a:sym typeface="+mn-ea"/>
                <a:hlinkClick r:id="rId8"/>
              </a:rPr>
              <a:t>2023</a:t>
            </a:r>
            <a:r>
              <a:rPr lang="zh-CN" altLang="en-US" sz="1200">
                <a:sym typeface="+mn-ea"/>
                <a:hlinkClick r:id="rId8"/>
              </a:rPr>
              <a:t>年第二季度全县安全生产领域风险 研判报告</a:t>
            </a:r>
            <a:endParaRPr lang="zh-CN" altLang="en-US" sz="1200">
              <a:sym typeface="+mn-ea"/>
              <a:hlinkClick r:id="rId8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141085" y="1766570"/>
            <a:ext cx="5558155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1200"/>
              <a:t> </a:t>
            </a:r>
            <a:r>
              <a:rPr lang="zh-CN" altLang="en-US" sz="1200"/>
              <a:t>洪山区《安全生产风险研判》2026 年第4期</a:t>
            </a:r>
            <a:r>
              <a:rPr lang="en-US" altLang="zh-CN" sz="1200">
                <a:hlinkClick r:id="rId9"/>
              </a:rPr>
              <a:t>P020260430645666483675.pdf</a:t>
            </a:r>
            <a:endParaRPr lang="en-US" altLang="zh-CN" sz="1200">
              <a:hlinkClick r:id="rId9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141085" y="1443990"/>
            <a:ext cx="5558155" cy="2755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en-US" altLang="zh-CN" sz="1200">
                <a:sym typeface="+mn-ea"/>
              </a:rPr>
              <a:t> </a:t>
            </a:r>
            <a:r>
              <a:rPr lang="zh-CN" altLang="en-US" sz="1200">
                <a:sym typeface="+mn-ea"/>
              </a:rPr>
              <a:t>洪山区《安全生产风险研判》2023 年第12期</a:t>
            </a:r>
            <a:r>
              <a:rPr lang="en-US" altLang="zh-CN" sz="1200">
                <a:hlinkClick r:id="rId10"/>
              </a:rPr>
              <a:t>P020251214552424915944.pdf</a:t>
            </a:r>
            <a:endParaRPr lang="en-US" altLang="zh-CN" sz="1200">
              <a:hlinkClick r:id="rId1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23790" y="6250305"/>
            <a:ext cx="7268210" cy="6076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400">
                <a:sym typeface="+mn-ea"/>
              </a:rPr>
              <a:t>响应指标：</a:t>
            </a:r>
            <a:r>
              <a:rPr lang="zh-CN" altLang="en-US" sz="1400">
                <a:sym typeface="+mn-ea"/>
              </a:rPr>
              <a:t>（2）报告输出：形成安全生产事故风险研判及预测分析报告，包含＞5项定量指标，每项定量指标可选取内容＞10个，确保＞95%的事故可按照定量指标进行统计。</a:t>
            </a:r>
            <a:endParaRPr lang="zh-CN" altLang="en-US" sz="1400">
              <a:sym typeface="+mn-ea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11"/>
            </p:custDataLst>
          </p:nvPr>
        </p:nvGraphicFramePr>
        <p:xfrm>
          <a:off x="1471295" y="3841750"/>
          <a:ext cx="7099300" cy="2304000"/>
        </p:xfrm>
        <a:graphic>
          <a:graphicData uri="http://schemas.openxmlformats.org/drawingml/2006/table">
            <a:tbl>
              <a:tblPr/>
              <a:tblGrid>
                <a:gridCol w="607695"/>
                <a:gridCol w="2517775"/>
                <a:gridCol w="3973830"/>
              </a:tblGrid>
              <a:tr h="28800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章节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章节名称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核心回答的问题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研判任务与数据范围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分析谁、什么时间、什么地区、用了多少数据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安全生产基础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条件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企业、经济社会、气候环境等基础情况怎么样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现状安全生产总体形势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现在事故形势怎么样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事故风险因素识别与关联分析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为什么发生事故、哪些因素最关键、因素怎么关联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安全生产风险预测分析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未来风险怎么变化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风险防范措施与建议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针对已识别风险应该做什么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8000"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just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最终有哪些核心判断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7950" marR="10795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986790" y="2339340"/>
            <a:ext cx="2074545" cy="28829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安全生产基础条件</a:t>
            </a:r>
            <a:r>
              <a:rPr lang="zh-CN" altLang="en-US" sz="1200"/>
              <a:t>指标</a:t>
            </a:r>
            <a:endParaRPr lang="zh-CN" altLang="en-US" sz="1200"/>
          </a:p>
        </p:txBody>
      </p:sp>
      <p:sp>
        <p:nvSpPr>
          <p:cNvPr id="26" name="文本框 25"/>
          <p:cNvSpPr txBox="1"/>
          <p:nvPr/>
        </p:nvSpPr>
        <p:spPr>
          <a:xfrm>
            <a:off x="4923155" y="2339195"/>
            <a:ext cx="1501140" cy="2876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事故致因分析</a:t>
            </a:r>
            <a:r>
              <a:rPr lang="zh-CN" altLang="en-US" sz="1200"/>
              <a:t>指标</a:t>
            </a:r>
            <a:endParaRPr lang="zh-CN" altLang="en-US" sz="1200"/>
          </a:p>
        </p:txBody>
      </p:sp>
      <p:sp>
        <p:nvSpPr>
          <p:cNvPr id="30" name="文本框 29"/>
          <p:cNvSpPr txBox="1"/>
          <p:nvPr/>
        </p:nvSpPr>
        <p:spPr>
          <a:xfrm>
            <a:off x="6659245" y="2339195"/>
            <a:ext cx="1537970" cy="2876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事故后果</a:t>
            </a:r>
            <a:r>
              <a:rPr lang="zh-CN" altLang="en-US" sz="1200"/>
              <a:t>指标</a:t>
            </a:r>
            <a:endParaRPr lang="zh-CN" altLang="en-US" sz="1200"/>
          </a:p>
        </p:txBody>
      </p:sp>
      <p:sp>
        <p:nvSpPr>
          <p:cNvPr id="46" name="文本框 45"/>
          <p:cNvSpPr txBox="1"/>
          <p:nvPr>
            <p:custDataLst>
              <p:tags r:id="rId12"/>
            </p:custDataLst>
          </p:nvPr>
        </p:nvSpPr>
        <p:spPr>
          <a:xfrm>
            <a:off x="216535" y="2392045"/>
            <a:ext cx="65024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报告</a:t>
            </a:r>
            <a:r>
              <a:rPr lang="zh-CN" altLang="en-US"/>
              <a:t>指标</a:t>
            </a:r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13"/>
            </p:custDataLst>
          </p:nvPr>
        </p:nvSpPr>
        <p:spPr>
          <a:xfrm>
            <a:off x="216535" y="4393565"/>
            <a:ext cx="650240" cy="645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报告</a:t>
            </a:r>
            <a:r>
              <a:rPr lang="zh-CN" altLang="en-US"/>
              <a:t>内容</a:t>
            </a:r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>
            <a:off x="172720" y="2195830"/>
            <a:ext cx="1181862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172720" y="3565525"/>
            <a:ext cx="11818620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8432165" y="2339195"/>
            <a:ext cx="1537970" cy="2876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风险预测</a:t>
            </a:r>
            <a:r>
              <a:rPr lang="zh-CN" altLang="en-US" sz="1200"/>
              <a:t>相关指标</a:t>
            </a:r>
            <a:endParaRPr lang="zh-CN" altLang="en-US" sz="1200"/>
          </a:p>
        </p:txBody>
      </p:sp>
      <p:sp>
        <p:nvSpPr>
          <p:cNvPr id="70" name="文本框 69"/>
          <p:cNvSpPr txBox="1"/>
          <p:nvPr/>
        </p:nvSpPr>
        <p:spPr>
          <a:xfrm>
            <a:off x="10205085" y="2339195"/>
            <a:ext cx="1537970" cy="2876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风险防范</a:t>
            </a:r>
            <a:r>
              <a:rPr lang="zh-CN" altLang="en-US" sz="1200"/>
              <a:t>指标</a:t>
            </a:r>
            <a:endParaRPr lang="zh-CN" altLang="en-US" sz="1200"/>
          </a:p>
        </p:txBody>
      </p:sp>
      <p:sp>
        <p:nvSpPr>
          <p:cNvPr id="71" name="文本框 70"/>
          <p:cNvSpPr txBox="1"/>
          <p:nvPr/>
        </p:nvSpPr>
        <p:spPr>
          <a:xfrm>
            <a:off x="3187065" y="2339195"/>
            <a:ext cx="1501140" cy="2876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200"/>
              <a:t>事故发生特征</a:t>
            </a:r>
            <a:r>
              <a:rPr lang="zh-CN" altLang="en-US" sz="1200"/>
              <a:t>指标</a:t>
            </a:r>
            <a:endParaRPr lang="zh-CN" altLang="en-US" sz="1200"/>
          </a:p>
        </p:txBody>
      </p:sp>
      <p:sp>
        <p:nvSpPr>
          <p:cNvPr id="72" name="文本框 71"/>
          <p:cNvSpPr txBox="1"/>
          <p:nvPr/>
        </p:nvSpPr>
        <p:spPr>
          <a:xfrm>
            <a:off x="3759200" y="3004185"/>
            <a:ext cx="6971665" cy="46037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>
                <a:sym typeface="+mn-ea"/>
              </a:rPr>
              <a:t>人员伤亡（伤亡人数、轻伤人数、重伤人数、死亡人数）、经济损失（直接经济损失、间接经济损失）、事故统计（事故总数、一般事故数、较大事故数、重大事故数、特别重大事故数）</a:t>
            </a:r>
            <a:endParaRPr lang="zh-CN" altLang="en-US" sz="1200">
              <a:sym typeface="+mn-ea"/>
            </a:endParaRPr>
          </a:p>
        </p:txBody>
      </p:sp>
      <p:cxnSp>
        <p:nvCxnSpPr>
          <p:cNvPr id="73" name="直接连接符 72"/>
          <p:cNvCxnSpPr>
            <a:stCxn id="30" idx="2"/>
          </p:cNvCxnSpPr>
          <p:nvPr/>
        </p:nvCxnSpPr>
        <p:spPr>
          <a:xfrm flipH="1">
            <a:off x="5863590" y="2626995"/>
            <a:ext cx="1564640" cy="370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30" idx="2"/>
          </p:cNvCxnSpPr>
          <p:nvPr/>
        </p:nvCxnSpPr>
        <p:spPr>
          <a:xfrm>
            <a:off x="7428230" y="2626995"/>
            <a:ext cx="1623060" cy="370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76" name="对象 7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51290" y="4272915"/>
          <a:ext cx="271589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14" imgW="971550" imgH="666750" progId="Package">
                  <p:embed/>
                </p:oleObj>
              </mc:Choice>
              <mc:Fallback>
                <p:oleObj name="" showAsIcon="1" r:id="rId14" imgW="971550" imgH="666750" progId="Package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51290" y="4272915"/>
                        <a:ext cx="2715895" cy="1390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0" y="2311400"/>
            <a:ext cx="12191365" cy="17900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4800"/>
              <a:t>汇报</a:t>
            </a:r>
            <a:r>
              <a:rPr lang="zh-CN" altLang="en-US" sz="4800"/>
              <a:t>完毕</a:t>
            </a:r>
            <a:endParaRPr lang="zh-CN" altLang="en-US" sz="48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68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69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70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71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72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73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74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75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76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77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78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79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0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1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2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3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84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5.xml><?xml version="1.0" encoding="utf-8"?>
<p:tagLst xmlns:p="http://schemas.openxmlformats.org/presentationml/2006/main">
  <p:tag name="KSO_WM_DIAGRAM_VIRTUALLY_FRAME" val="{&quot;height&quot;:358.95,&quot;left&quot;:0,&quot;top&quot;:0,&quot;width&quot;:486.35}"/>
</p:tagLst>
</file>

<file path=ppt/tags/tag86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7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90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91.xml><?xml version="1.0" encoding="utf-8"?>
<p:tagLst xmlns:p="http://schemas.openxmlformats.org/presentationml/2006/main">
  <p:tag name="TABLE_ENDDRAG_ORIGIN_RECT" val="559*197"/>
  <p:tag name="TABLE_ENDDRAG_RECT" val="115*287*559*197"/>
</p:tagLst>
</file>

<file path=ppt/tags/tag92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93.xml><?xml version="1.0" encoding="utf-8"?>
<p:tagLst xmlns:p="http://schemas.openxmlformats.org/presentationml/2006/main">
  <p:tag name="KSO_WM_DIAGRAM_VIRTUALLY_FRAME" val="{&quot;height&quot;:490.975,&quot;left&quot;:0,&quot;top&quot;:-29.125,&quot;width&quot;:762.8}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2267</Words>
  <Application>WPS 演示</Application>
  <PresentationFormat>宽屏</PresentationFormat>
  <Paragraphs>210</Paragraphs>
  <Slides>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Noto Sans CJK SC</vt:lpstr>
      <vt:lpstr>方正锐水云 大</vt:lpstr>
      <vt:lpstr>Arial</vt:lpstr>
      <vt:lpstr>Times New Roman</vt:lpstr>
      <vt:lpstr>Noto Sans CJK SC</vt:lpstr>
      <vt:lpstr>KSOF57165B2F</vt:lpstr>
      <vt:lpstr>KSOF22301FEE</vt:lpstr>
      <vt:lpstr>Comic Sans Pro</vt:lpstr>
      <vt:lpstr>WPS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石头</cp:lastModifiedBy>
  <cp:revision>196</cp:revision>
  <dcterms:created xsi:type="dcterms:W3CDTF">2019-06-19T02:08:00Z</dcterms:created>
  <dcterms:modified xsi:type="dcterms:W3CDTF">2026-10-09T06:24:13Z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8DAEC64DAB79410BBF73A5A0F0707C6A_13</vt:lpwstr>
  </property>
</Properties>
</file>